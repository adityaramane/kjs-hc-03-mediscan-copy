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  <p:sldId id="266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46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20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818120" y="960120"/>
            <a:ext cx="3383280" cy="338328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8275320" y="1417320"/>
            <a:ext cx="2468880" cy="2468880"/>
          </a:xfrm>
          <a:prstGeom prst="roundRect">
            <a:avLst/>
          </a:prstGeom>
          <a:solidFill>
            <a:srgbClr val="0A101E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0" y="1901952"/>
            <a:ext cx="2194560" cy="475488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2700" b="1" i="0">
                <a:solidFill>
                  <a:srgbClr val="F4F7FC"/>
                </a:solidFill>
                <a:latin typeface="Aptos"/>
              </a:rPr>
              <a:t>AXION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30768" y="2487168"/>
            <a:ext cx="214884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2DD4BF"/>
                </a:solidFill>
                <a:latin typeface="Aptos"/>
              </a:rPr>
              <a:t>ARMv9 • SERVER CPU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092440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92440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67928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67928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043416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043416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518904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9518904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994392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994392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469880" y="704088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469880" y="4343400"/>
            <a:ext cx="0" cy="256032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562088" y="1143000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11201400" y="1143000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7562088" y="1618488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1201400" y="1618488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62088" y="2093976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201400" y="2093976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562088" y="2569464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1201400" y="2569464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562088" y="3044952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1201400" y="3044952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62088" y="3520440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1201400" y="3520440"/>
            <a:ext cx="256032" cy="0"/>
          </a:xfrm>
          <a:prstGeom prst="line">
            <a:avLst/>
          </a:prstGeom>
          <a:ln w="25400">
            <a:solidFill>
              <a:srgbClr val="4285F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8046720" y="4892040"/>
            <a:ext cx="182880" cy="18288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549640" y="4892040"/>
            <a:ext cx="182880" cy="182880"/>
          </a:xfrm>
          <a:prstGeom prst="ellipse">
            <a:avLst/>
          </a:prstGeom>
          <a:solidFill>
            <a:srgbClr val="EA4335"/>
          </a:solidFill>
          <a:ln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052560" y="4892040"/>
            <a:ext cx="182880" cy="182880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555480" y="4892040"/>
            <a:ext cx="182880" cy="182880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5800" y="640080"/>
            <a:ext cx="64008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COMPUTER ARCHITECTURE  •  TECHNICAL CASE STUDY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1234440"/>
            <a:ext cx="6766560" cy="100584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4000" b="1" i="0">
                <a:solidFill>
                  <a:srgbClr val="F4F7FC"/>
                </a:solidFill>
                <a:latin typeface="Aptos"/>
              </a:rPr>
              <a:t>Google Axion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2267712"/>
            <a:ext cx="68580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400" b="1" i="0" dirty="0">
                <a:solidFill>
                  <a:srgbClr val="4285F4"/>
                </a:solidFill>
                <a:latin typeface="Aptos"/>
              </a:rPr>
              <a:t>ARM-based CPU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3232" y="3063240"/>
            <a:ext cx="6537960" cy="9144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B5C1D4"/>
                </a:solidFill>
                <a:latin typeface="Aptos"/>
              </a:rPr>
              <a:t>How custom server silicon, Arm Neoverse cores and infrastructure offloads support efficient cloud and AI workloads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3232" y="4572000"/>
            <a:ext cx="6355080" cy="841248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444752" y="4674165"/>
            <a:ext cx="5943600" cy="618631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l"/>
            <a:r>
              <a:rPr lang="en-IN" sz="1100" b="1" i="0" dirty="0">
                <a:solidFill>
                  <a:srgbClr val="F4F7FC"/>
                </a:solidFill>
                <a:latin typeface="Aptos"/>
              </a:rPr>
              <a:t> Aditya Ramane 16010125205</a:t>
            </a:r>
          </a:p>
          <a:p>
            <a:pPr algn="l"/>
            <a:r>
              <a:rPr lang="en-IN" sz="1100" b="1" i="0" dirty="0">
                <a:solidFill>
                  <a:srgbClr val="F4F7FC"/>
                </a:solidFill>
                <a:latin typeface="Aptos"/>
              </a:rPr>
              <a:t> Atharva Rane 16010125205</a:t>
            </a:r>
          </a:p>
          <a:p>
            <a:pPr algn="l"/>
            <a:r>
              <a:rPr lang="en-IN" sz="1100" b="1" i="0" dirty="0">
                <a:solidFill>
                  <a:srgbClr val="F4F7FC"/>
                </a:solidFill>
                <a:latin typeface="Aptos"/>
              </a:rPr>
              <a:t>  Yashwardhan Rathod 16010125207</a:t>
            </a:r>
            <a:endParaRPr sz="1100" b="1" i="0" dirty="0">
              <a:solidFill>
                <a:srgbClr val="F4F7FC"/>
              </a:solidFill>
              <a:latin typeface="Apto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1520" y="5989320"/>
            <a:ext cx="64008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5C1D4"/>
                </a:solidFill>
                <a:latin typeface="Aptos"/>
              </a:rPr>
              <a:t>Architecture analysis • performance claims • limitations • references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80" y="6217920"/>
            <a:ext cx="201168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  <a:latin typeface="Aptos"/>
              </a:rPr>
              <a:t>01 /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Why does cloud infrastructure need a better CPU?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AI infrastructure is not only accelerators: CPUs handle orchestration, data movement, services and many inference workloads.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352044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59436" cy="15544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59" y="1920240"/>
            <a:ext cx="31546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CPU BOTTLENECKS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2286000"/>
            <a:ext cx="3154680" cy="9784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Host-side preprocessing, request handling, databases and orchestration still consume substantial compute.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52044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59436" cy="15544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26280" y="1920240"/>
            <a:ext cx="31546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POWER &amp; TCO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286000"/>
            <a:ext cx="3154680" cy="9784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At hyperscale, small improvements in performance per watt can compound across thousands of servers.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783080"/>
            <a:ext cx="3520440" cy="15544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046720" y="1783080"/>
            <a:ext cx="59436" cy="155448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15468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WORKLOAD DIVERSITY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2286000"/>
            <a:ext cx="3154680" cy="97840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Web services, caches, analytics, storage and CPU-based inference need balanced general-purpose compute.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03320"/>
            <a:ext cx="10927080" cy="141732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3931920"/>
            <a:ext cx="1828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DESIGN RESPONSE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70248"/>
            <a:ext cx="101498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1" i="0">
                <a:solidFill>
                  <a:srgbClr val="F4F7FC"/>
                </a:solidFill>
                <a:latin typeface="Aptos"/>
              </a:rPr>
              <a:t>Axion combines Arm Neoverse CPU cores with Google’s custom silicon and Titanium infrastructure offloads.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1">
                <a:solidFill>
                  <a:srgbClr val="B5C1D4"/>
                </a:solidFill>
                <a:latin typeface="Aptos"/>
              </a:rPr>
              <a:t>COA lens: evaluate the ISA, core microarchitecture, memory hierarchy, I/O and system-level efficiency—not clock speed alone.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  <a:latin typeface="Aptos"/>
              </a:rPr>
              <a:t>02 /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Axion is a system, not just an instruction 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Google designs the processor platform around Arm CPU IP and its data-centre environment.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627632"/>
            <a:ext cx="6995160" cy="603504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1719072"/>
            <a:ext cx="21031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4285F4"/>
                </a:solidFill>
                <a:latin typeface="Aptos"/>
              </a:rPr>
              <a:t>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00784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Aptos"/>
              </a:rPr>
              <a:t>APIs • databases • analytics • media • CPU-side AI/ML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389120" y="2240280"/>
            <a:ext cx="0" cy="164592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68680" y="2432304"/>
            <a:ext cx="6995160" cy="603504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2523744"/>
            <a:ext cx="21031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  <a:latin typeface="Aptos"/>
              </a:rPr>
              <a:t>SOFTWARE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505456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Aptos"/>
              </a:rPr>
              <a:t>Linux / Arm64 • runtimes • libraries • containers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389120" y="3044952"/>
            <a:ext cx="0" cy="164592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868680" y="3236976"/>
            <a:ext cx="6995160" cy="603504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51560" y="3328416"/>
            <a:ext cx="21031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34A853"/>
                </a:solidFill>
                <a:latin typeface="Aptos"/>
              </a:rPr>
              <a:t>ARM INSTRUCTION SET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310128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Aptos"/>
              </a:rPr>
              <a:t>AArch64 / Armv9 family; software-visible instruction contract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89120" y="3849624"/>
            <a:ext cx="0" cy="164591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868680" y="4041648"/>
            <a:ext cx="6995160" cy="603504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" y="4133087"/>
            <a:ext cx="21031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FBBC05"/>
                </a:solidFill>
                <a:latin typeface="Aptos"/>
              </a:rPr>
              <a:t>CPU MICROARCHITECTURE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114800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Aptos"/>
              </a:rPr>
              <a:t>Neoverse V2 in C4A; Neoverse N3 in N4A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389120" y="4654296"/>
            <a:ext cx="0" cy="164592"/>
          </a:xfrm>
          <a:prstGeom prst="line">
            <a:avLst/>
          </a:prstGeom>
          <a:ln w="1905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868680" y="4846320"/>
            <a:ext cx="6995160" cy="603504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51560" y="4937759"/>
            <a:ext cx="21031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EA4335"/>
                </a:solidFill>
                <a:latin typeface="Aptos"/>
              </a:rPr>
              <a:t>GOOGLE AXION PLATFORM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4919472"/>
            <a:ext cx="4389120" cy="36576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0">
                <a:solidFill>
                  <a:srgbClr val="F4F7FC"/>
                </a:solidFill>
                <a:latin typeface="Aptos"/>
              </a:rPr>
              <a:t>Custom processor integration + memory / I/O / platform design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75320" y="1783080"/>
            <a:ext cx="3017520" cy="33832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49640" y="2029968"/>
            <a:ext cx="2468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2DD4BF"/>
                </a:solidFill>
                <a:latin typeface="Aptos"/>
              </a:rPr>
              <a:t>KEY DISTINCTION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9640" y="2514600"/>
            <a:ext cx="2423160" cy="22402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Arm defines the ISA and core designs.
Google integrates Axion for its cloud platform.
Titanium offloads selected infrastructure tasks.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897880"/>
            <a:ext cx="102412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EA4335"/>
                </a:solidFill>
                <a:latin typeface="Aptos"/>
              </a:rPr>
              <a:t>Do not describe Axion as a new proprietary ISA: it is an Arm-based CPU platform.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5074920"/>
            <a:ext cx="10287000" cy="777240"/>
          </a:xfrm>
          <a:prstGeom prst="roundRect">
            <a:avLst/>
          </a:prstGeom>
          <a:solidFill>
            <a:srgbClr val="131D31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l"/>
            <a:r>
              <a:rPr sz="1100" b="1">
                <a:solidFill>
                  <a:srgbClr val="A78BFA"/>
                </a:solidFill>
                <a:latin typeface="Aptos"/>
              </a:rPr>
              <a:t>ISA VS MICROARCHITECTURE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B5C1D4"/>
                </a:solidFill>
                <a:latin typeface="Aptos"/>
              </a:rPr>
              <a:t>Arm defines the software-visible instruction set; Neoverse cores implement it. Arm64 compatibility matters for binaries, libraries and native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 dirty="0">
                <a:solidFill>
                  <a:srgbClr val="2DD4BF"/>
                </a:solidFill>
                <a:latin typeface="Aptos"/>
              </a:rPr>
              <a:t>0</a:t>
            </a:r>
            <a:r>
              <a:rPr lang="en-IN" sz="900" b="1" i="0" dirty="0">
                <a:solidFill>
                  <a:srgbClr val="2DD4BF"/>
                </a:solidFill>
                <a:latin typeface="Aptos"/>
              </a:rPr>
              <a:t>3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 / DATA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From request to useful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CPU performance depends on feeding the cores and moving data through memory, storage and networking.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920240"/>
            <a:ext cx="2240280" cy="96012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4285F4"/>
                </a:solidFill>
                <a:latin typeface="Aptos"/>
              </a:rPr>
              <a:t>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50592"/>
            <a:ext cx="2057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instructions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953512" y="2395728"/>
            <a:ext cx="493776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20440" y="1920240"/>
            <a:ext cx="2240280" cy="96012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11880" y="2121408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34A853"/>
                </a:solidFill>
                <a:latin typeface="Aptos"/>
              </a:rPr>
              <a:t>CPU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450592"/>
            <a:ext cx="2057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execute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788152" y="2395728"/>
            <a:ext cx="493776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6355080" y="1920240"/>
            <a:ext cx="2240280" cy="96012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46520" y="2121408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BBC05"/>
                </a:solidFill>
                <a:latin typeface="Aptos"/>
              </a:rPr>
              <a:t>DDR5 MEMORY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450592"/>
            <a:ext cx="2057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working 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622792" y="2395728"/>
            <a:ext cx="493776" cy="0"/>
          </a:xfrm>
          <a:prstGeom prst="line">
            <a:avLst/>
          </a:prstGeom>
          <a:ln w="25400">
            <a:solidFill>
              <a:srgbClr val="2DD4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189720" y="1920240"/>
            <a:ext cx="2240280" cy="96012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2121408"/>
            <a:ext cx="205740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A78BFA"/>
                </a:solidFill>
                <a:latin typeface="Aptos"/>
              </a:rPr>
              <a:t>TITANIUM / I/O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2450592"/>
            <a:ext cx="20574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network + storage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3429000"/>
            <a:ext cx="5212080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" y="3639312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MEMORY HIERARCHY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4005072"/>
            <a:ext cx="4663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Registers → L1/L2 caches → DRAM. Cache hits reduce access latency; misses can stall dependent work.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429000"/>
            <a:ext cx="5212080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639312"/>
            <a:ext cx="47548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F4F7FC"/>
                </a:solidFill>
                <a:latin typeface="Aptos"/>
              </a:rPr>
              <a:t>SYSTEM-LEVEL DATA MOVEMENT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005072"/>
            <a:ext cx="4663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Network and storage traffic also consume resources. Offloading selected tasks can preserve CPU cycles for applications.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349240"/>
            <a:ext cx="1042416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EA4335"/>
                </a:solidFill>
                <a:latin typeface="Aptos"/>
              </a:rPr>
              <a:t>Important limit: Google does not publish a complete public Axion cache / pipeline block diagram in the sources used here; do not invent cache sizes or core counts.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4983480"/>
            <a:ext cx="10287000" cy="841248"/>
          </a:xfrm>
          <a:prstGeom prst="roundRect">
            <a:avLst/>
          </a:prstGeom>
          <a:solidFill>
            <a:srgbClr val="131D31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l"/>
            <a:r>
              <a:rPr sz="1100" b="1">
                <a:solidFill>
                  <a:srgbClr val="2DD4BF"/>
                </a:solidFill>
                <a:latin typeface="Aptos"/>
              </a:rPr>
              <a:t>TITANIUM PLATFORM OFFLOAD</a:t>
            </a:r>
          </a:p>
          <a:p>
            <a:pPr>
              <a:spcBef>
                <a:spcPts val="200"/>
              </a:spcBef>
            </a:pPr>
            <a:r>
              <a:rPr sz="900">
                <a:solidFill>
                  <a:srgbClr val="B5C1D4"/>
                </a:solidFill>
                <a:latin typeface="Aptos"/>
              </a:rPr>
              <a:t>Selected networking, storage and infrastructure operations can be offloaded, preserving more host-CPU capacity for customer workloads. Benefits depend on workload and instance configuration.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 dirty="0">
                <a:solidFill>
                  <a:srgbClr val="2DD4BF"/>
                </a:solidFill>
                <a:latin typeface="Aptos"/>
              </a:rPr>
              <a:t>0</a:t>
            </a:r>
            <a:r>
              <a:rPr lang="en-IN" sz="900" b="1" dirty="0">
                <a:solidFill>
                  <a:srgbClr val="2DD4BF"/>
                </a:solidFill>
                <a:latin typeface="Aptos"/>
              </a:rPr>
              <a:t>4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/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Performance claims: read the baseline carefully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Vendor-published headline comparisons are useful context, but they are not independent universal benchmark results.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493008" cy="16002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2057400"/>
            <a:ext cx="3218688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 i="0">
                <a:solidFill>
                  <a:srgbClr val="4285F4"/>
                </a:solidFill>
                <a:latin typeface="Aptos"/>
              </a:rPr>
              <a:t>UP TO 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33472"/>
            <a:ext cx="3035808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F4F7FC"/>
                </a:solidFill>
                <a:latin typeface="Aptos"/>
              </a:rPr>
              <a:t>performance vs comparable current-generation x86 instances (launch claim)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1828800"/>
            <a:ext cx="3493008" cy="16002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63440" y="2057400"/>
            <a:ext cx="3218688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 i="0">
                <a:solidFill>
                  <a:srgbClr val="34A853"/>
                </a:solidFill>
                <a:latin typeface="Aptos"/>
              </a:rPr>
              <a:t>UP TO 60%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33472"/>
            <a:ext cx="3035808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F4F7FC"/>
                </a:solidFill>
                <a:latin typeface="Aptos"/>
              </a:rPr>
              <a:t>better energy efficiency vs comparable current-generation x86 instances (launch claim)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3493008" cy="160020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0" y="2057400"/>
            <a:ext cx="3218688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600" b="1" i="0">
                <a:solidFill>
                  <a:srgbClr val="FBBC05"/>
                </a:solidFill>
                <a:latin typeface="Aptos"/>
              </a:rPr>
              <a:t>UP TO 30%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633472"/>
            <a:ext cx="3035808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0" i="0">
                <a:solidFill>
                  <a:srgbClr val="F4F7FC"/>
                </a:solidFill>
                <a:latin typeface="Aptos"/>
              </a:rPr>
              <a:t>performance vs fastest general-purpose Arm-based cloud instances available at announcement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94760"/>
            <a:ext cx="10835640" cy="128016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4023360"/>
            <a:ext cx="20116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2DD4BF"/>
                </a:solidFill>
                <a:latin typeface="Aptos"/>
              </a:rPr>
              <a:t>FAIR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370832"/>
            <a:ext cx="1024128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F4F7FC"/>
                </a:solidFill>
                <a:latin typeface="Aptos"/>
              </a:rPr>
              <a:t>Match workload, concurrency, memory, compiler, instance generation, power boundary and cost. Separate price-performance from raw throughput.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515600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0" i="1">
                <a:solidFill>
                  <a:srgbClr val="B5C1D4"/>
                </a:solidFill>
                <a:latin typeface="Aptos"/>
              </a:rPr>
              <a:t>Google’s later C4A messaging reports different metrics for specific workloads (e.g., MySQL / Redis). Do not mix them into a single chart without matching baselines.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 dirty="0">
                <a:solidFill>
                  <a:srgbClr val="2DD4BF"/>
                </a:solidFill>
                <a:latin typeface="Aptos"/>
              </a:rPr>
              <a:t>0</a:t>
            </a:r>
            <a:r>
              <a:rPr lang="en-IN" sz="900" b="1" i="0" dirty="0">
                <a:solidFill>
                  <a:srgbClr val="2DD4BF"/>
                </a:solidFill>
                <a:latin typeface="Aptos"/>
              </a:rPr>
              <a:t>5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 / WORKLOAD MAPPING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Where Axion fits—and why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The best candidate is a workload that is Arm-compatible and benefits from balanced CPU throughput, memory and I/O.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132588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WEB / API SERVERS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Request handling, TLS, routing and application logic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07992" y="17373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507992" y="1737360"/>
            <a:ext cx="59436" cy="132588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90872" y="1874519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DATABASES &amp; CACHES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90872" y="22402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Query execution, transaction processing and in-memory access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7373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330183" y="1737360"/>
            <a:ext cx="59436" cy="132588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13063" y="1874519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13063" y="22402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Data preparation, query engines and batch processing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3375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800" y="3337560"/>
            <a:ext cx="59436" cy="132588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474720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MEDIA /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Transcoding pipelines and service-side processing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07992" y="33375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507992" y="3337560"/>
            <a:ext cx="59436" cy="132588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90872" y="3474720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CPU-BASED AI INFERENCE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38404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Selected small / medium models, preprocessing and serving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0183" y="3337560"/>
            <a:ext cx="3493008" cy="132588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330183" y="3337560"/>
            <a:ext cx="59436" cy="1325880"/>
          </a:xfrm>
          <a:prstGeom prst="rect">
            <a:avLst/>
          </a:prstGeom>
          <a:solidFill>
            <a:srgbClr val="2DD4B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13063" y="3474720"/>
            <a:ext cx="3127248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CONTAINERS / MICROSERVICES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13063" y="3840480"/>
            <a:ext cx="3127248" cy="7498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50" b="0" i="0">
                <a:solidFill>
                  <a:srgbClr val="B5C1D4"/>
                </a:solidFill>
                <a:latin typeface="Aptos"/>
              </a:rPr>
              <a:t>Scale-out services and Kubernetes workloads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166360"/>
            <a:ext cx="10789920" cy="59436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5312664"/>
            <a:ext cx="104241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Aptos"/>
              </a:rPr>
              <a:t>Not a TPU/GPU replacement: Axion runs general-purpose CPU work and can complement accelerators in an AI system.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 dirty="0">
                <a:solidFill>
                  <a:srgbClr val="2DD4BF"/>
                </a:solidFill>
                <a:latin typeface="Aptos"/>
              </a:rPr>
              <a:t>0</a:t>
            </a:r>
            <a:r>
              <a:rPr lang="en-IN" sz="900" b="1" i="0" dirty="0">
                <a:solidFill>
                  <a:srgbClr val="2DD4BF"/>
                </a:solidFill>
                <a:latin typeface="Aptos"/>
              </a:rPr>
              <a:t>6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/ GOOGLE CLOUD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C4A vs N4A: two Axion-backed VM families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Official Google Cloud documentation identifies different Neoverse cores and workload positioning.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1783080"/>
            <a:ext cx="1508760" cy="475488"/>
          </a:xfrm>
          <a:prstGeom prst="rect">
            <a:avLst/>
          </a:prstGeom>
          <a:solidFill>
            <a:srgbClr val="1B334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901952"/>
            <a:ext cx="1417319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  <a:latin typeface="Aptos"/>
              </a:rPr>
              <a:t>FAMILY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1783080"/>
            <a:ext cx="2377440" cy="475488"/>
          </a:xfrm>
          <a:prstGeom prst="rect">
            <a:avLst/>
          </a:prstGeom>
          <a:solidFill>
            <a:srgbClr val="1B334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76856" y="1901952"/>
            <a:ext cx="22860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  <a:latin typeface="Aptos"/>
              </a:rPr>
              <a:t>CPU CORE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45152" y="1783080"/>
            <a:ext cx="3063240" cy="475488"/>
          </a:xfrm>
          <a:prstGeom prst="rect">
            <a:avLst/>
          </a:prstGeom>
          <a:solidFill>
            <a:srgbClr val="1B334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90872" y="1901952"/>
            <a:ext cx="297180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  <a:latin typeface="Aptos"/>
              </a:rPr>
              <a:t>POSITIONING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44968" y="1783080"/>
            <a:ext cx="3383280" cy="475488"/>
          </a:xfrm>
          <a:prstGeom prst="rect">
            <a:avLst/>
          </a:prstGeom>
          <a:solidFill>
            <a:srgbClr val="1B334F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90688" y="1901952"/>
            <a:ext cx="32918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900" b="1" i="0">
                <a:solidFill>
                  <a:srgbClr val="2DD4BF"/>
                </a:solidFill>
                <a:latin typeface="Aptos"/>
              </a:rPr>
              <a:t>SELECTED DETAILS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2331720"/>
            <a:ext cx="1508760" cy="896112"/>
          </a:xfrm>
          <a:prstGeom prst="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2450591"/>
            <a:ext cx="13258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1" i="0">
                <a:solidFill>
                  <a:srgbClr val="F4F7FC"/>
                </a:solidFill>
                <a:latin typeface="Aptos"/>
              </a:rPr>
              <a:t>C4A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31136" y="2331720"/>
            <a:ext cx="2377440" cy="896112"/>
          </a:xfrm>
          <a:prstGeom prst="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322576" y="2450591"/>
            <a:ext cx="219456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Arm Neoverse V2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5152" y="2331720"/>
            <a:ext cx="3063240" cy="896112"/>
          </a:xfrm>
          <a:prstGeom prst="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736592" y="2450591"/>
            <a:ext cx="288036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Performance-oriented general purpose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44968" y="2331720"/>
            <a:ext cx="3383280" cy="896112"/>
          </a:xfrm>
          <a:prstGeom prst="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836408" y="2450591"/>
            <a:ext cx="320040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Up to 72 vCPUs, 576 GB DDR5; Titanium SSD options on supported configurations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3383279"/>
            <a:ext cx="1508760" cy="896112"/>
          </a:xfrm>
          <a:prstGeom prst="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3502151"/>
            <a:ext cx="132588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1" i="0">
                <a:solidFill>
                  <a:srgbClr val="F4F7FC"/>
                </a:solidFill>
                <a:latin typeface="Aptos"/>
              </a:rPr>
              <a:t>N4A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31136" y="3383279"/>
            <a:ext cx="2377440" cy="896112"/>
          </a:xfrm>
          <a:prstGeom prst="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322576" y="3502151"/>
            <a:ext cx="219456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Arm Neoverse N3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5152" y="3383279"/>
            <a:ext cx="3063240" cy="896112"/>
          </a:xfrm>
          <a:prstGeom prst="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36592" y="3502151"/>
            <a:ext cx="288036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Efficient scale-out / flexible general purpose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44968" y="3383279"/>
            <a:ext cx="3383280" cy="896112"/>
          </a:xfrm>
          <a:prstGeom prst="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36408" y="3502151"/>
            <a:ext cx="3200400" cy="640080"/>
          </a:xfrm>
          <a:prstGeom prst="rect">
            <a:avLst/>
          </a:prstGeom>
          <a:noFill/>
        </p:spPr>
        <p:txBody>
          <a:bodyPr wrap="square" lIns="54864" tIns="54864" rIns="54864" bIns="54864" anchor="ctr">
            <a:spAutoFit/>
          </a:bodyPr>
          <a:lstStyle/>
          <a:p>
            <a:pPr algn="ctr"/>
            <a:r>
              <a:rPr sz="1000" b="0" i="0">
                <a:solidFill>
                  <a:srgbClr val="B5C1D4"/>
                </a:solidFill>
                <a:latin typeface="Aptos"/>
              </a:rPr>
              <a:t>Up to 64 vCPUs, 512 GB DDR5; standard networking up to 50 Gbps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800600"/>
            <a:ext cx="10789920" cy="713232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4400" y="4965192"/>
            <a:ext cx="10424160" cy="34747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F4F7FC"/>
                </a:solidFill>
                <a:latin typeface="Aptos"/>
              </a:rPr>
              <a:t>Specifications change over time; verify region, machine type, storage and networking limits before deployment.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5806440"/>
            <a:ext cx="1042416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0" i="0">
                <a:solidFill>
                  <a:srgbClr val="B5C1D4"/>
                </a:solidFill>
                <a:latin typeface="Aptos"/>
              </a:rPr>
              <a:t>Note: Google Cloud documents C4A and N4A as Arm-based Axion VM families; vCPU is one thread per core for these Arm platforms.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 dirty="0">
                <a:solidFill>
                  <a:srgbClr val="2DD4BF"/>
                </a:solidFill>
                <a:latin typeface="Aptos"/>
              </a:rPr>
              <a:t>0</a:t>
            </a:r>
            <a:r>
              <a:rPr lang="en-IN" sz="900" b="1" i="0" dirty="0">
                <a:solidFill>
                  <a:srgbClr val="2DD4BF"/>
                </a:solidFill>
                <a:latin typeface="Aptos"/>
              </a:rPr>
              <a:t>7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 / CRITICAL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Limitations, risks and open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A strong COA case study separates measured facts from marketing claims and identifies what public documentation does not reveal.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25780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59436" cy="128016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920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LIMITED MICROARCHITECTURE DISCLOSURE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240280"/>
            <a:ext cx="489204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Public materials do not provide a full core pipeline, cache hierarchy and branch-prediction specification.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737360"/>
            <a:ext cx="525780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737360"/>
            <a:ext cx="59436" cy="1280160"/>
          </a:xfrm>
          <a:prstGeom prst="rect">
            <a:avLst/>
          </a:prstGeom>
          <a:solidFill>
            <a:srgbClr val="FBBC05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48920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SOFTWARE PORTABILITY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40280"/>
            <a:ext cx="489204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Arm64 images, native libraries, proprietary agents and build tooling must be validated.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91840"/>
            <a:ext cx="525780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85800" y="3291840"/>
            <a:ext cx="59436" cy="1280160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48920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BENCHMARK DEPENDENCE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794760"/>
            <a:ext cx="489204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Performance varies with instruction mix, working set, thread count, compiler and I/O intensity.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291840"/>
            <a:ext cx="5257800" cy="1280160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72200" y="3291840"/>
            <a:ext cx="59436" cy="12801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55080" y="3429000"/>
            <a:ext cx="4892040" cy="29260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400" b="1" i="0">
                <a:solidFill>
                  <a:srgbClr val="F4F7FC"/>
                </a:solidFill>
                <a:latin typeface="Aptos"/>
              </a:rPr>
              <a:t>ACCELERATOR BOUNDARIES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794760"/>
            <a:ext cx="4892040" cy="70408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CPU inference is useful for some models; large training and highly parallel tensor work may favour TPUs/GPUs.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983480"/>
            <a:ext cx="10698480" cy="68580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394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138928"/>
            <a:ext cx="1033272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Aptos"/>
              </a:rPr>
              <a:t>Critical judgement: Axion’s strongest argument is system-level performance per watt—not a claim that Arm is always faster than x86.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49299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lang="en-IN" sz="900" b="1" i="0" dirty="0">
                <a:solidFill>
                  <a:srgbClr val="2DD4BF"/>
                </a:solidFill>
                <a:latin typeface="Aptos"/>
              </a:rPr>
              <a:t>8</a:t>
            </a:r>
            <a:r>
              <a:rPr sz="900" b="1" i="0" dirty="0">
                <a:solidFill>
                  <a:srgbClr val="2DD4BF"/>
                </a:solidFill>
                <a:latin typeface="Aptos"/>
              </a:rPr>
              <a:t>/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What should a COA student take away?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Axion illustrates how ISA, microarchitecture, memory/I/O and platform engineering combine in a modern server.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691640"/>
            <a:ext cx="457200" cy="457200"/>
          </a:xfrm>
          <a:prstGeom prst="ellipse">
            <a:avLst/>
          </a:prstGeom>
          <a:solidFill>
            <a:srgbClr val="4285F4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792224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0A101E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709928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ISA &amp; CORES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09928"/>
            <a:ext cx="72237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Arm architecture provides the software contract; Neoverse cores execute the instructions.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1560" y="2167128"/>
            <a:ext cx="0" cy="402336"/>
          </a:xfrm>
          <a:prstGeom prst="line">
            <a:avLst/>
          </a:prstGeom>
          <a:ln w="16510">
            <a:solidFill>
              <a:srgbClr val="394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22960" y="2624328"/>
            <a:ext cx="457200" cy="457200"/>
          </a:xfrm>
          <a:prstGeom prst="ellipse">
            <a:avLst/>
          </a:prstGeom>
          <a:solidFill>
            <a:srgbClr val="34A853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2724912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0A101E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2642616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SYSTEM CO-DESIGN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642616"/>
            <a:ext cx="72237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Titanium shifts selected networking, storage and platform work away from host CPU cores.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3099816"/>
            <a:ext cx="0" cy="402336"/>
          </a:xfrm>
          <a:prstGeom prst="line">
            <a:avLst/>
          </a:prstGeom>
          <a:ln w="16510">
            <a:solidFill>
              <a:srgbClr val="394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822960" y="3557016"/>
            <a:ext cx="457200" cy="457200"/>
          </a:xfrm>
          <a:prstGeom prst="ellipse">
            <a:avLst/>
          </a:prstGeom>
          <a:solidFill>
            <a:srgbClr val="FBBC05"/>
          </a:solidFill>
          <a:ln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657600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0A101E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575304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MEASURED EFFICIENCY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3575304"/>
            <a:ext cx="72237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Vendor claims must be interpreted against the stated workload and comparison baseline.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1560" y="4032504"/>
            <a:ext cx="0" cy="402336"/>
          </a:xfrm>
          <a:prstGeom prst="line">
            <a:avLst/>
          </a:prstGeom>
          <a:ln w="16510">
            <a:solidFill>
              <a:srgbClr val="394B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822960" y="4489704"/>
            <a:ext cx="457200" cy="457200"/>
          </a:xfrm>
          <a:prstGeom prst="ellipse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60" y="4590288"/>
            <a:ext cx="457200" cy="2011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000" b="1" i="0">
                <a:solidFill>
                  <a:srgbClr val="0A101E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507992"/>
            <a:ext cx="23317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1" i="0">
                <a:solidFill>
                  <a:srgbClr val="F4F7FC"/>
                </a:solidFill>
                <a:latin typeface="Aptos"/>
              </a:rPr>
              <a:t>AI INFRASTRUCTURE ROLE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507992"/>
            <a:ext cx="722376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B5C1D4"/>
                </a:solidFill>
                <a:latin typeface="Aptos"/>
              </a:rPr>
              <a:t>CPUs remain essential for orchestration, data systems and selected inference workloads alongside accelerators.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5623560"/>
            <a:ext cx="10424160" cy="457200"/>
          </a:xfrm>
          <a:prstGeom prst="roundRect">
            <a:avLst/>
          </a:prstGeom>
          <a:solidFill>
            <a:srgbClr val="19273F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05840" y="5724144"/>
            <a:ext cx="10058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1" i="0">
                <a:solidFill>
                  <a:srgbClr val="2DD4BF"/>
                </a:solidFill>
                <a:latin typeface="Aptos"/>
              </a:rPr>
              <a:t>Final insight: evaluate the whole computing system, not only the CPU brand or instruction 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0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  <a:latin typeface="Aptos"/>
              </a:rP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12648"/>
            <a:ext cx="1097280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700" b="1" i="0">
                <a:solidFill>
                  <a:srgbClr val="F4F7FC"/>
                </a:solidFill>
                <a:latin typeface="Apto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70432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5C1D4"/>
                </a:solidFill>
                <a:latin typeface="Aptos"/>
              </a:rPr>
              <a:t>Official technical sources; formatted in IEEE, APA and ACM-like styles to mirror the reference presentation.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36192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1609344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4285F4"/>
                </a:solidFill>
                <a:latin typeface="Aptos"/>
              </a:rPr>
              <a:t>IEEE STYLE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591056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[1] A. Vahdat, “Introducing Google’s new Arm-based CPU: Google Axion Processors,” Google Cloud Blog, Apr. 9, 2024. [Online]. Available: https://cloud.google.com/blog/products/compute/introducing-googles-new-arm-based-cpu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286000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8" y="2359152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34A853"/>
                </a:solidFill>
                <a:latin typeface="Aptos"/>
              </a:rPr>
              <a:t>IEEE STYLE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340864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[2] Google Cloud, “General-purpose machine family for Compute Engine: C4A and N4A,” Google Cloud Documentation. [Online]. Available: https://docs.cloud.google.com/compute/docs/general-purpose-machines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035808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FBBC0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" y="3108960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FBBC05"/>
                </a:solidFill>
                <a:latin typeface="Aptos"/>
              </a:rPr>
              <a:t>APA STYLE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3090672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Google Cloud. (2024, April 9). Introducing Google’s new Arm-based CPU: Google Axion Processors. Google Cloud Blog. https://cloud.google.com/blog/products/compute/introducing-googles-new-arm-based-cpu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85615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3858768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A78BFA"/>
                </a:solidFill>
                <a:latin typeface="Aptos"/>
              </a:rPr>
              <a:t>ACM-STYLE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840479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Google Cloud. 2024. Introducing Google’s new Arm-based CPU: Google Axion Processors. Google Cloud Blog (April 9, 2024). https://cloud.google.com/blog/products/compute/introducing-googles-new-arm-based-cpu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535424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" y="4608576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2DD4BF"/>
                </a:solidFill>
                <a:latin typeface="Aptos"/>
              </a:rPr>
              <a:t>SUPPLEMENTARY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4590288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Google Cloud. (n.d.). Arm VMs on Compute Engine. https://docs.cloud.google.com/compute/docs/instances/arm-on-compute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85231"/>
            <a:ext cx="10835640" cy="621792"/>
          </a:xfrm>
          <a:prstGeom prst="roundRect">
            <a:avLst/>
          </a:prstGeom>
          <a:solidFill>
            <a:srgbClr val="131D31"/>
          </a:solidFill>
          <a:ln w="12700">
            <a:solidFill>
              <a:srgbClr val="EA43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" y="5358383"/>
            <a:ext cx="123444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EA4335"/>
                </a:solidFill>
                <a:latin typeface="Aptos"/>
              </a:rPr>
              <a:t>SUPPLEMENTARY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5340095"/>
            <a:ext cx="923544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60" b="0" i="0">
                <a:solidFill>
                  <a:srgbClr val="F4F7FC"/>
                </a:solidFill>
                <a:latin typeface="Aptos"/>
              </a:rPr>
              <a:t>Arm. (2025, April 9). Unpacking Axion: Google Cloud’s custom Arm-based processor built for the AI age. https://newsroom.arm.com/blog/google-cloud-axion-arm-ai-performance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172200"/>
            <a:ext cx="105156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1">
                <a:solidFill>
                  <a:srgbClr val="B5C1D4"/>
                </a:solidFill>
                <a:latin typeface="Aptos"/>
              </a:rPr>
              <a:t>Accessed 19 October 2026. Performance figures are attributed to the source that reports them.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519672"/>
            <a:ext cx="914400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1" i="0">
                <a:solidFill>
                  <a:srgbClr val="B5C1D4"/>
                </a:solidFill>
                <a:latin typeface="Aptos"/>
              </a:rPr>
              <a:t>GOOGLE AXION  |  COMPUTER ORGANIZATION &amp; ARCHITECTURE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92240"/>
            <a:ext cx="59436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2DD4BF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1458</Words>
  <Application>Microsoft Office PowerPoint</Application>
  <PresentationFormat>Widescreen</PresentationFormat>
  <Paragraphs>166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Sadanand Ramane</cp:lastModifiedBy>
  <cp:revision>2</cp:revision>
  <dcterms:created xsi:type="dcterms:W3CDTF">2013-01-27T09:14:16Z</dcterms:created>
  <dcterms:modified xsi:type="dcterms:W3CDTF">2026-10-20T06:23:16Z</dcterms:modified>
  <cp:category/>
</cp:coreProperties>
</file>